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06" userDrawn="1">
          <p15:clr>
            <a:srgbClr val="A4A3A4"/>
          </p15:clr>
        </p15:guide>
        <p15:guide id="2" pos="21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1E1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106"/>
        <p:guide pos="213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2152278"/>
            <a:ext cx="6170175" cy="6872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063900"/>
            <a:ext cx="3005100" cy="5510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053111"/>
            <a:ext cx="3005100" cy="5510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587131"/>
            <a:ext cx="5512050" cy="147124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554"/>
            <a:ext cx="5512050" cy="68103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63.xml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50" descr="C:\Users\Administrator\Desktop\图片1.png图片1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546100"/>
            <a:ext cx="1403350" cy="1403350"/>
          </a:xfrm>
          <a:prstGeom prst="ellipse">
            <a:avLst/>
          </a:prstGeom>
          <a:noFill/>
          <a:ln w="38100">
            <a:solidFill>
              <a:srgbClr val="9A7200"/>
            </a:solidFill>
          </a:ln>
        </p:spPr>
      </p:pic>
      <p:sp>
        <p:nvSpPr>
          <p:cNvPr id="4" name="文本框 3"/>
          <p:cNvSpPr txBox="1"/>
          <p:nvPr/>
        </p:nvSpPr>
        <p:spPr>
          <a:xfrm>
            <a:off x="2350770" y="1013778"/>
            <a:ext cx="1407795" cy="583565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zh-CN" altLang="en-US" sz="3200" b="1">
                <a:solidFill>
                  <a:srgbClr val="AA894A"/>
                </a:solidFill>
                <a:latin typeface="方正幼线简体"/>
                <a:ea typeface="方正幼线简体"/>
              </a:rPr>
              <a:t>韩子墨</a:t>
            </a:r>
            <a:endParaRPr lang="zh-CN" altLang="en-US" sz="3200" b="1">
              <a:solidFill>
                <a:srgbClr val="AA894A"/>
              </a:solidFill>
              <a:latin typeface="方正幼线简体"/>
              <a:ea typeface="方正幼线简体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79675" y="1611948"/>
            <a:ext cx="114935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en-US" altLang="zh-CN" sz="1600">
                <a:solidFill>
                  <a:srgbClr val="AA894A"/>
                </a:solidFill>
                <a:latin typeface="方正幼线简体"/>
                <a:ea typeface="方正幼线简体"/>
              </a:rPr>
              <a:t>IOS</a:t>
            </a:r>
            <a:r>
              <a:rPr lang="zh-CN" altLang="en-US" sz="1600">
                <a:solidFill>
                  <a:srgbClr val="AA894A"/>
                </a:solidFill>
                <a:latin typeface="方正幼线简体"/>
                <a:ea typeface="方正幼线简体"/>
              </a:rPr>
              <a:t>工程师</a:t>
            </a:r>
            <a:endParaRPr lang="zh-CN" altLang="en-US" sz="1600">
              <a:solidFill>
                <a:srgbClr val="AA894A"/>
              </a:solidFill>
              <a:latin typeface="方正幼线简体"/>
              <a:ea typeface="方正幼线简体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94530" y="-8890"/>
            <a:ext cx="2363470" cy="9911715"/>
          </a:xfrm>
          <a:prstGeom prst="rect">
            <a:avLst/>
          </a:prstGeom>
          <a:solidFill>
            <a:srgbClr val="E2E1E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638" y="625475"/>
            <a:ext cx="161925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960620" y="591820"/>
            <a:ext cx="1593850" cy="24511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zh-CN" altLang="en-US" sz="1000">
                <a:solidFill>
                  <a:schemeClr val="tx1"/>
                </a:solidFill>
                <a:latin typeface="方正幼线简体"/>
                <a:ea typeface="方正幼线简体"/>
              </a:rPr>
              <a:t>生日：</a:t>
            </a:r>
            <a:r>
              <a:rPr lang="en-US" altLang="zh-CN" sz="1000">
                <a:solidFill>
                  <a:schemeClr val="tx1"/>
                </a:solidFill>
                <a:latin typeface="方正幼线简体"/>
                <a:ea typeface="方正幼线简体"/>
              </a:rPr>
              <a:t>2000</a:t>
            </a:r>
            <a:r>
              <a:rPr lang="zh-CN" altLang="en-US" sz="1000">
                <a:solidFill>
                  <a:schemeClr val="tx1"/>
                </a:solidFill>
                <a:latin typeface="方正幼线简体"/>
                <a:ea typeface="方正幼线简体"/>
              </a:rPr>
              <a:t>年</a:t>
            </a:r>
            <a:r>
              <a:rPr lang="en-US" altLang="zh-CN" sz="1000">
                <a:solidFill>
                  <a:schemeClr val="tx1"/>
                </a:solidFill>
                <a:latin typeface="方正幼线简体"/>
                <a:ea typeface="方正幼线简体"/>
              </a:rPr>
              <a:t>10</a:t>
            </a:r>
            <a:r>
              <a:rPr lang="zh-CN" altLang="en-US" sz="1000">
                <a:solidFill>
                  <a:schemeClr val="tx1"/>
                </a:solidFill>
                <a:latin typeface="方正幼线简体"/>
                <a:ea typeface="方正幼线简体"/>
              </a:rPr>
              <a:t>月</a:t>
            </a:r>
            <a:r>
              <a:rPr lang="en-US" altLang="zh-CN" sz="1000">
                <a:solidFill>
                  <a:schemeClr val="tx1"/>
                </a:solidFill>
                <a:latin typeface="方正幼线简体"/>
                <a:ea typeface="方正幼线简体"/>
              </a:rPr>
              <a:t>2</a:t>
            </a:r>
            <a:r>
              <a:rPr lang="zh-CN" altLang="en-US" sz="1000">
                <a:solidFill>
                  <a:schemeClr val="tx1"/>
                </a:solidFill>
                <a:latin typeface="方正幼线简体"/>
                <a:ea typeface="方正幼线简体"/>
              </a:rPr>
              <a:t>日</a:t>
            </a:r>
            <a:endParaRPr lang="zh-CN" altLang="en-US" sz="1000">
              <a:solidFill>
                <a:schemeClr val="tx1"/>
              </a:solidFill>
              <a:latin typeface="方正幼线简体"/>
              <a:ea typeface="方正幼线简体"/>
            </a:endParaRPr>
          </a:p>
        </p:txBody>
      </p:sp>
      <p:pic>
        <p:nvPicPr>
          <p:cNvPr id="36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815" y="1031875"/>
            <a:ext cx="115570" cy="14795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4937125" y="983615"/>
            <a:ext cx="1706880" cy="24511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zh-CN" altLang="en-US" sz="1000">
                <a:solidFill>
                  <a:schemeClr val="tx1"/>
                </a:solidFill>
                <a:latin typeface="方正幼线简体"/>
                <a:ea typeface="方正幼线简体"/>
              </a:rPr>
              <a:t>住址：上海市闵行区银都路</a:t>
            </a:r>
            <a:endParaRPr lang="zh-CN" altLang="en-US" sz="1000">
              <a:solidFill>
                <a:schemeClr val="tx1"/>
              </a:solidFill>
              <a:latin typeface="方正幼线简体"/>
              <a:ea typeface="方正幼线简体"/>
            </a:endParaRPr>
          </a:p>
        </p:txBody>
      </p:sp>
      <p:pic>
        <p:nvPicPr>
          <p:cNvPr id="37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468" y="1412875"/>
            <a:ext cx="88265" cy="1701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4923790" y="1375410"/>
            <a:ext cx="1304290" cy="24511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en-US" altLang="zh-CN" sz="1000">
                <a:solidFill>
                  <a:schemeClr val="tx1"/>
                </a:solidFill>
                <a:latin typeface="方正幼线简体"/>
                <a:ea typeface="方正幼线简体"/>
              </a:rPr>
              <a:t>186 2187 4621</a:t>
            </a:r>
            <a:endParaRPr lang="en-US" altLang="zh-CN" sz="1000">
              <a:solidFill>
                <a:schemeClr val="tx1"/>
              </a:solidFill>
              <a:latin typeface="方正幼线简体"/>
              <a:ea typeface="方正幼线简体"/>
            </a:endParaRPr>
          </a:p>
        </p:txBody>
      </p:sp>
      <p:pic>
        <p:nvPicPr>
          <p:cNvPr id="38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385" y="1820545"/>
            <a:ext cx="138430" cy="13779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4948555" y="1767205"/>
            <a:ext cx="1682750" cy="24511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en-US" altLang="zh-CN" sz="1000">
                <a:solidFill>
                  <a:schemeClr val="tx1"/>
                </a:solidFill>
                <a:latin typeface="方正幼线简体"/>
                <a:ea typeface="方正幼线简体"/>
              </a:rPr>
              <a:t>zimo.han@example.com</a:t>
            </a:r>
            <a:endParaRPr lang="en-US" altLang="zh-CN" sz="1000">
              <a:solidFill>
                <a:schemeClr val="tx1"/>
              </a:solidFill>
              <a:latin typeface="方正幼线简体"/>
              <a:ea typeface="方正幼线简体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45440" y="2322830"/>
            <a:ext cx="1207770" cy="336550"/>
            <a:chOff x="878" y="3231"/>
            <a:chExt cx="1902" cy="530"/>
          </a:xfrm>
        </p:grpSpPr>
        <p:pic>
          <p:nvPicPr>
            <p:cNvPr id="16" name="image2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8" y="3318"/>
              <a:ext cx="219" cy="356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212" y="3231"/>
              <a:ext cx="1568" cy="531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 defTabSz="266700"/>
              <a:r>
                <a:rPr lang="zh-CN" altLang="en-US" sz="1600" b="1">
                  <a:solidFill>
                    <a:srgbClr val="454545"/>
                  </a:solidFill>
                  <a:latin typeface="微软雅黑" panose="020B0503020204020204" charset="-122"/>
                  <a:ea typeface="微软雅黑" panose="020B0503020204020204" charset="-122"/>
                </a:rPr>
                <a:t>自我评价</a:t>
              </a:r>
              <a:endParaRPr lang="zh-CN" altLang="en-US" sz="1600" b="1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57530" y="2704465"/>
            <a:ext cx="3607435" cy="691515"/>
          </a:xfrm>
          <a:prstGeom prst="rect">
            <a:avLst/>
          </a:prstGeom>
        </p:spPr>
        <p:txBody>
          <a:bodyPr wrap="square">
            <a:spAutoFit/>
          </a:bodyPr>
          <a:p>
            <a:pPr indent="0" defTabSz="266700" fontAlgn="auto">
              <a:lnSpc>
                <a:spcPct val="130000"/>
              </a:lnSpc>
              <a:spcBef>
                <a:spcPts val="0"/>
              </a:spcBef>
              <a:spcAft>
                <a:spcPct val="0"/>
              </a:spcAft>
            </a:pP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具备</a:t>
            </a:r>
            <a:r>
              <a:rPr lang="en-US" altLang="zh-CN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IOS</a:t>
            </a: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开发工程师丰富的工作经验，能够独立进行开发；对编程有着浓厚的兴趣，有较好的心理素质和抗压能力；对待工作认真，能够按时完成项目开发；对新技术有强烈的追求。</a:t>
            </a:r>
            <a:endParaRPr lang="zh-CN" altLang="en-US" sz="1000">
              <a:solidFill>
                <a:srgbClr val="4545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45440" y="3582035"/>
            <a:ext cx="1207770" cy="337185"/>
            <a:chOff x="878" y="3231"/>
            <a:chExt cx="1902" cy="531"/>
          </a:xfrm>
        </p:grpSpPr>
        <p:pic>
          <p:nvPicPr>
            <p:cNvPr id="21" name="image2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8" y="3318"/>
              <a:ext cx="219" cy="356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1212" y="3231"/>
              <a:ext cx="1568" cy="531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 defTabSz="266700"/>
              <a:r>
                <a:rPr lang="zh-CN" altLang="en-US" sz="1600" b="1">
                  <a:solidFill>
                    <a:srgbClr val="454545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项目经验</a:t>
              </a:r>
              <a:endParaRPr lang="zh-CN" altLang="en-US" sz="1600" b="1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57530" y="4310380"/>
            <a:ext cx="3607435" cy="891540"/>
          </a:xfrm>
          <a:prstGeom prst="rect">
            <a:avLst/>
          </a:prstGeom>
        </p:spPr>
        <p:txBody>
          <a:bodyPr wrap="square">
            <a:spAutoFit/>
          </a:bodyPr>
          <a:p>
            <a:pPr indent="0" defTabSz="266700" fontAlgn="auto">
              <a:lnSpc>
                <a:spcPct val="130000"/>
              </a:lnSpc>
              <a:spcBef>
                <a:spcPts val="0"/>
              </a:spcBef>
              <a:spcAft>
                <a:spcPct val="0"/>
              </a:spcAft>
            </a:pP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面向连锁门店的订单与库存工作台，负责登录、订单列表、库存同步和消息提醒等核心模块。</a:t>
            </a:r>
            <a:endParaRPr lang="zh-CN" altLang="en-US" sz="1000">
              <a:solidFill>
                <a:srgbClr val="4545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defTabSz="266700" fontAlgn="auto">
              <a:lnSpc>
                <a:spcPct val="130000"/>
              </a:lnSpc>
              <a:spcBef>
                <a:spcPts val="0"/>
              </a:spcBef>
              <a:spcAft>
                <a:spcPct val="0"/>
              </a:spcAft>
            </a:pP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通过组件化和缓存优化，核心页面首屏时间降低 35%，配合产品与测试完成多轮版本验收。</a:t>
            </a:r>
            <a:endParaRPr lang="zh-CN" altLang="en-US" sz="1000">
              <a:solidFill>
                <a:srgbClr val="4545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66395" y="4090035"/>
            <a:ext cx="95250" cy="1075690"/>
            <a:chOff x="577" y="5721"/>
            <a:chExt cx="150" cy="1694"/>
          </a:xfrm>
        </p:grpSpPr>
        <p:cxnSp>
          <p:nvCxnSpPr>
            <p:cNvPr id="24" name="直线 40"/>
            <p:cNvCxnSpPr/>
            <p:nvPr/>
          </p:nvCxnSpPr>
          <p:spPr>
            <a:xfrm>
              <a:off x="653" y="5957"/>
              <a:ext cx="0" cy="1459"/>
            </a:xfrm>
            <a:prstGeom prst="line">
              <a:avLst/>
            </a:prstGeom>
            <a:ln w="15075">
              <a:solidFill>
                <a:srgbClr val="AA894A"/>
              </a:solidFill>
              <a:prstDash val="solid"/>
            </a:ln>
          </p:spPr>
        </p:cxnSp>
        <p:pic>
          <p:nvPicPr>
            <p:cNvPr id="25" name="image3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7" y="5721"/>
              <a:ext cx="150" cy="150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557530" y="3977005"/>
            <a:ext cx="1554480" cy="27559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zh-CN" altLang="en-US" sz="12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门店运营</a:t>
            </a:r>
            <a:r>
              <a:rPr lang="zh-CN" altLang="en-US" sz="12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移动工作台</a:t>
            </a:r>
            <a:endParaRPr lang="zh-CN" altLang="en-US" sz="1200" b="1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153410" y="4003675"/>
            <a:ext cx="880745" cy="229870"/>
          </a:xfrm>
          <a:prstGeom prst="rect">
            <a:avLst/>
          </a:prstGeom>
        </p:spPr>
        <p:txBody>
          <a:bodyPr wrap="none">
            <a:spAutoFit/>
          </a:bodyPr>
          <a:p>
            <a:pPr algn="r" defTabSz="266700"/>
            <a:r>
              <a:rPr lang="en-US" altLang="zh-CN" sz="900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2024.07 ~ </a:t>
            </a:r>
            <a:r>
              <a:rPr lang="zh-CN" altLang="en-US" sz="900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今</a:t>
            </a:r>
            <a:endParaRPr lang="zh-CN" altLang="en-US" sz="900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57530" y="6346825"/>
            <a:ext cx="3607435" cy="691515"/>
          </a:xfrm>
          <a:prstGeom prst="rect">
            <a:avLst/>
          </a:prstGeom>
        </p:spPr>
        <p:txBody>
          <a:bodyPr wrap="square">
            <a:spAutoFit/>
          </a:bodyPr>
          <a:p>
            <a:pPr indent="0" defTabSz="266700" fontAlgn="auto">
              <a:lnSpc>
                <a:spcPct val="130000"/>
              </a:lnSpc>
              <a:spcBef>
                <a:spcPts val="0"/>
              </a:spcBef>
              <a:spcAft>
                <a:spcPct val="0"/>
              </a:spcAft>
            </a:pP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独立开发、运维门店运营移动工作台</a:t>
            </a:r>
            <a:r>
              <a:rPr lang="en-US" altLang="zh-CN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App</a:t>
            </a: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，已经面向全国</a:t>
            </a:r>
            <a:r>
              <a:rPr lang="en-US" altLang="zh-CN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1000+ </a:t>
            </a: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零售门店使用。该</a:t>
            </a:r>
            <a:r>
              <a:rPr lang="en-US" altLang="zh-CN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App </a:t>
            </a: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主要运行于</a:t>
            </a:r>
            <a:r>
              <a:rPr lang="en-US" altLang="zh-CN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iPhone </a:t>
            </a: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iPad</a:t>
            </a: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，用于门店员工的日常经营</a:t>
            </a: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与管理。</a:t>
            </a:r>
            <a:endParaRPr lang="zh-CN" altLang="en-US" sz="1000">
              <a:solidFill>
                <a:srgbClr val="4545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66395" y="5931535"/>
            <a:ext cx="95250" cy="1075690"/>
            <a:chOff x="577" y="5721"/>
            <a:chExt cx="150" cy="1694"/>
          </a:xfrm>
        </p:grpSpPr>
        <p:cxnSp>
          <p:nvCxnSpPr>
            <p:cNvPr id="31" name="直线 40"/>
            <p:cNvCxnSpPr/>
            <p:nvPr/>
          </p:nvCxnSpPr>
          <p:spPr>
            <a:xfrm>
              <a:off x="653" y="5957"/>
              <a:ext cx="0" cy="1459"/>
            </a:xfrm>
            <a:prstGeom prst="line">
              <a:avLst/>
            </a:prstGeom>
            <a:ln w="15075">
              <a:solidFill>
                <a:srgbClr val="AA894A"/>
              </a:solidFill>
              <a:prstDash val="solid"/>
            </a:ln>
          </p:spPr>
        </p:cxnSp>
        <p:pic>
          <p:nvPicPr>
            <p:cNvPr id="32" name="image3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7" y="5721"/>
              <a:ext cx="150" cy="150"/>
            </a:xfrm>
            <a:prstGeom prst="rect">
              <a:avLst/>
            </a:prstGeom>
          </p:spPr>
        </p:pic>
      </p:grpSp>
      <p:sp>
        <p:nvSpPr>
          <p:cNvPr id="33" name="文本框 32"/>
          <p:cNvSpPr txBox="1"/>
          <p:nvPr/>
        </p:nvSpPr>
        <p:spPr>
          <a:xfrm>
            <a:off x="557530" y="5818505"/>
            <a:ext cx="1554480" cy="27559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zh-CN" altLang="en-US" sz="12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某信息科技有限公司</a:t>
            </a:r>
            <a:endParaRPr lang="zh-CN" altLang="en-US" sz="1200" b="1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153410" y="5845175"/>
            <a:ext cx="880745" cy="229870"/>
          </a:xfrm>
          <a:prstGeom prst="rect">
            <a:avLst/>
          </a:prstGeom>
        </p:spPr>
        <p:txBody>
          <a:bodyPr wrap="none">
            <a:spAutoFit/>
          </a:bodyPr>
          <a:p>
            <a:pPr algn="r" defTabSz="266700"/>
            <a:r>
              <a:rPr lang="en-US" altLang="zh-CN" sz="900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2024.07 ~ </a:t>
            </a:r>
            <a:r>
              <a:rPr lang="zh-CN" altLang="en-US" sz="900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今</a:t>
            </a:r>
            <a:endParaRPr lang="zh-CN" altLang="en-US" sz="900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45440" y="5380355"/>
            <a:ext cx="1207770" cy="337185"/>
            <a:chOff x="878" y="3231"/>
            <a:chExt cx="1902" cy="531"/>
          </a:xfrm>
        </p:grpSpPr>
        <p:pic>
          <p:nvPicPr>
            <p:cNvPr id="41" name="image2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8" y="3318"/>
              <a:ext cx="219" cy="356"/>
            </a:xfrm>
            <a:prstGeom prst="rect">
              <a:avLst/>
            </a:prstGeom>
          </p:spPr>
        </p:pic>
        <p:sp>
          <p:nvSpPr>
            <p:cNvPr id="42" name="文本框 41"/>
            <p:cNvSpPr txBox="1"/>
            <p:nvPr/>
          </p:nvSpPr>
          <p:spPr>
            <a:xfrm>
              <a:off x="1212" y="3231"/>
              <a:ext cx="1568" cy="531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 defTabSz="266700"/>
              <a:r>
                <a:rPr lang="zh-CN" altLang="en-US" sz="1600" b="1">
                  <a:solidFill>
                    <a:srgbClr val="454545"/>
                  </a:solidFill>
                  <a:latin typeface="微软雅黑" panose="020B0503020204020204" charset="-122"/>
                  <a:ea typeface="微软雅黑" panose="020B0503020204020204" charset="-122"/>
                </a:rPr>
                <a:t>工作经验</a:t>
              </a:r>
              <a:endParaRPr lang="zh-CN" altLang="en-US" sz="1600" b="1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557530" y="6105525"/>
            <a:ext cx="755650" cy="22987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en-US" altLang="zh-CN" sz="9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iOS </a:t>
            </a:r>
            <a:r>
              <a:rPr lang="zh-CN" altLang="en-US" sz="9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程序员</a:t>
            </a:r>
            <a:endParaRPr lang="zh-CN" altLang="en-US" sz="900" b="1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57530" y="7667625"/>
            <a:ext cx="3607435" cy="691515"/>
          </a:xfrm>
          <a:prstGeom prst="rect">
            <a:avLst/>
          </a:prstGeom>
        </p:spPr>
        <p:txBody>
          <a:bodyPr wrap="square">
            <a:spAutoFit/>
          </a:bodyPr>
          <a:p>
            <a:pPr indent="0" defTabSz="266700" fontAlgn="auto">
              <a:lnSpc>
                <a:spcPct val="130000"/>
              </a:lnSpc>
              <a:spcBef>
                <a:spcPts val="0"/>
              </a:spcBef>
              <a:spcAft>
                <a:spcPct val="0"/>
              </a:spcAft>
            </a:pP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参与开发了一款金融信贷业务相关</a:t>
            </a:r>
            <a:r>
              <a:rPr lang="en-US" altLang="zh-CN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App</a:t>
            </a: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，用于信贷工作人员在移动工作场景下的管理。本人参与部分客户端模块的开发，并参与了部分数据中台的</a:t>
            </a: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实习。</a:t>
            </a:r>
            <a:endParaRPr lang="zh-CN" altLang="en-US" sz="1000">
              <a:solidFill>
                <a:srgbClr val="4545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66395" y="7252335"/>
            <a:ext cx="95250" cy="1075690"/>
            <a:chOff x="577" y="5721"/>
            <a:chExt cx="150" cy="1694"/>
          </a:xfrm>
        </p:grpSpPr>
        <p:cxnSp>
          <p:nvCxnSpPr>
            <p:cNvPr id="46" name="直线 40"/>
            <p:cNvCxnSpPr/>
            <p:nvPr/>
          </p:nvCxnSpPr>
          <p:spPr>
            <a:xfrm>
              <a:off x="653" y="5957"/>
              <a:ext cx="0" cy="1459"/>
            </a:xfrm>
            <a:prstGeom prst="line">
              <a:avLst/>
            </a:prstGeom>
            <a:ln w="15075">
              <a:solidFill>
                <a:srgbClr val="AA894A"/>
              </a:solidFill>
              <a:prstDash val="solid"/>
            </a:ln>
          </p:spPr>
        </p:cxnSp>
        <p:pic>
          <p:nvPicPr>
            <p:cNvPr id="47" name="image3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7" y="5721"/>
              <a:ext cx="150" cy="150"/>
            </a:xfrm>
            <a:prstGeom prst="rect">
              <a:avLst/>
            </a:prstGeom>
          </p:spPr>
        </p:pic>
      </p:grpSp>
      <p:sp>
        <p:nvSpPr>
          <p:cNvPr id="48" name="文本框 47"/>
          <p:cNvSpPr txBox="1"/>
          <p:nvPr/>
        </p:nvSpPr>
        <p:spPr>
          <a:xfrm>
            <a:off x="557530" y="7139305"/>
            <a:ext cx="2164080" cy="27559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zh-CN" altLang="en-US" sz="12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某科技</a:t>
            </a:r>
            <a:r>
              <a:rPr lang="zh-CN" altLang="en-US" sz="12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股份有限公司（</a:t>
            </a:r>
            <a:r>
              <a:rPr lang="zh-CN" altLang="en-US" sz="12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实习）</a:t>
            </a:r>
            <a:endParaRPr lang="zh-CN" altLang="en-US" sz="1200" b="1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836545" y="7165975"/>
            <a:ext cx="1197610" cy="229870"/>
          </a:xfrm>
          <a:prstGeom prst="rect">
            <a:avLst/>
          </a:prstGeom>
        </p:spPr>
        <p:txBody>
          <a:bodyPr wrap="none">
            <a:spAutoFit/>
          </a:bodyPr>
          <a:p>
            <a:pPr algn="r" defTabSz="266700"/>
            <a:r>
              <a:rPr lang="en-US" altLang="zh-CN" sz="900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2023.07 ~ 2024.03</a:t>
            </a:r>
            <a:endParaRPr lang="en-US" altLang="zh-CN" sz="900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57530" y="7426325"/>
            <a:ext cx="755650" cy="22987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en-US" altLang="zh-CN" sz="9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iOS </a:t>
            </a:r>
            <a:r>
              <a:rPr lang="zh-CN" altLang="en-US" sz="9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程序员</a:t>
            </a:r>
            <a:endParaRPr lang="zh-CN" altLang="en-US" sz="900" b="1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345440" y="8598535"/>
            <a:ext cx="1207770" cy="337185"/>
            <a:chOff x="878" y="3231"/>
            <a:chExt cx="1902" cy="531"/>
          </a:xfrm>
        </p:grpSpPr>
        <p:pic>
          <p:nvPicPr>
            <p:cNvPr id="54" name="image2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8" y="3318"/>
              <a:ext cx="219" cy="356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1212" y="3231"/>
              <a:ext cx="1568" cy="531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 defTabSz="266700"/>
              <a:r>
                <a:rPr lang="zh-CN" altLang="en-US" sz="1600" b="1">
                  <a:solidFill>
                    <a:srgbClr val="454545"/>
                  </a:solidFill>
                  <a:latin typeface="微软雅黑" panose="020B0503020204020204" charset="-122"/>
                  <a:ea typeface="微软雅黑" panose="020B0503020204020204" charset="-122"/>
                </a:rPr>
                <a:t>兴趣</a:t>
              </a:r>
              <a:r>
                <a:rPr lang="zh-CN" altLang="en-US" sz="1600" b="1">
                  <a:solidFill>
                    <a:srgbClr val="454545"/>
                  </a:solidFill>
                  <a:latin typeface="微软雅黑" panose="020B0503020204020204" charset="-122"/>
                  <a:ea typeface="微软雅黑" panose="020B0503020204020204" charset="-122"/>
                </a:rPr>
                <a:t>爱好</a:t>
              </a:r>
              <a:endParaRPr lang="zh-CN" altLang="en-US" sz="1600" b="1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6" name="image15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02933" y="9047956"/>
            <a:ext cx="339725" cy="294640"/>
          </a:xfrm>
          <a:prstGeom prst="rect">
            <a:avLst/>
          </a:prstGeom>
        </p:spPr>
      </p:pic>
      <p:grpSp>
        <p:nvGrpSpPr>
          <p:cNvPr id="57" name="组合 5"/>
          <p:cNvGrpSpPr/>
          <p:nvPr/>
        </p:nvGrpSpPr>
        <p:grpSpPr>
          <a:xfrm>
            <a:off x="1567498" y="9047956"/>
            <a:ext cx="340360" cy="294640"/>
            <a:chOff x="3976" y="61"/>
            <a:chExt cx="536" cy="464"/>
          </a:xfrm>
        </p:grpSpPr>
        <p:sp>
          <p:nvSpPr>
            <p:cNvPr id="58" name="任意多边形 7"/>
            <p:cNvSpPr/>
            <p:nvPr/>
          </p:nvSpPr>
          <p:spPr>
            <a:xfrm>
              <a:off x="3976" y="61"/>
              <a:ext cx="536" cy="464"/>
            </a:xfrm>
            <a:custGeom>
              <a:avLst/>
              <a:gdLst/>
              <a:ahLst/>
              <a:cxnLst/>
              <a:pathLst>
                <a:path w="536" h="464">
                  <a:moveTo>
                    <a:pt x="401" y="0"/>
                  </a:moveTo>
                  <a:lnTo>
                    <a:pt x="134" y="0"/>
                  </a:lnTo>
                  <a:lnTo>
                    <a:pt x="0" y="232"/>
                  </a:lnTo>
                  <a:lnTo>
                    <a:pt x="134" y="464"/>
                  </a:lnTo>
                  <a:lnTo>
                    <a:pt x="401" y="464"/>
                  </a:lnTo>
                  <a:lnTo>
                    <a:pt x="535" y="232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upright="1"/>
            <a:lstStyle/>
            <a:p>
              <a:pPr algn="ctr"/>
              <a:r>
                <a:rPr lang="en-US" altLang="zh-CN" sz="1100" kern="100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Times New Roman" panose="02020603050405020304"/>
                </a:rPr>
                <a:t> </a:t>
              </a:r>
              <a:endParaRPr lang="en-US" altLang="zh-CN" sz="1100" kern="1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Times New Roman" panose="02020603050405020304"/>
              </a:endParaRPr>
            </a:p>
          </p:txBody>
        </p:sp>
        <p:pic>
          <p:nvPicPr>
            <p:cNvPr id="59" name="图片 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63" y="166"/>
              <a:ext cx="368" cy="2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组合 34"/>
          <p:cNvGrpSpPr/>
          <p:nvPr/>
        </p:nvGrpSpPr>
        <p:grpSpPr>
          <a:xfrm>
            <a:off x="2532698" y="9047956"/>
            <a:ext cx="340360" cy="294640"/>
            <a:chOff x="5416" y="332"/>
            <a:chExt cx="536" cy="464"/>
          </a:xfrm>
        </p:grpSpPr>
        <p:sp>
          <p:nvSpPr>
            <p:cNvPr id="61" name="任意多边形 36"/>
            <p:cNvSpPr/>
            <p:nvPr/>
          </p:nvSpPr>
          <p:spPr>
            <a:xfrm>
              <a:off x="5416" y="332"/>
              <a:ext cx="536" cy="464"/>
            </a:xfrm>
            <a:custGeom>
              <a:avLst/>
              <a:gdLst/>
              <a:ahLst/>
              <a:cxnLst/>
              <a:pathLst>
                <a:path w="536" h="464">
                  <a:moveTo>
                    <a:pt x="402" y="0"/>
                  </a:moveTo>
                  <a:lnTo>
                    <a:pt x="134" y="0"/>
                  </a:lnTo>
                  <a:lnTo>
                    <a:pt x="0" y="232"/>
                  </a:lnTo>
                  <a:lnTo>
                    <a:pt x="134" y="464"/>
                  </a:lnTo>
                  <a:lnTo>
                    <a:pt x="402" y="464"/>
                  </a:lnTo>
                  <a:lnTo>
                    <a:pt x="536" y="23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upright="1"/>
            <a:lstStyle/>
            <a:p>
              <a:pPr algn="ctr"/>
              <a:r>
                <a:rPr lang="en-US" altLang="zh-CN" sz="1100" kern="100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Times New Roman" panose="02020603050405020304"/>
                </a:rPr>
                <a:t> </a:t>
              </a:r>
              <a:endParaRPr lang="en-US" altLang="zh-CN" sz="1100" kern="1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Times New Roman" panose="02020603050405020304"/>
              </a:endParaRPr>
            </a:p>
          </p:txBody>
        </p:sp>
        <p:pic>
          <p:nvPicPr>
            <p:cNvPr id="62" name="图片 3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546" y="420"/>
              <a:ext cx="288" cy="2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文本框 62"/>
          <p:cNvSpPr txBox="1"/>
          <p:nvPr/>
        </p:nvSpPr>
        <p:spPr>
          <a:xfrm>
            <a:off x="1049338" y="9080341"/>
            <a:ext cx="411480" cy="229870"/>
          </a:xfrm>
          <a:prstGeom prst="rect">
            <a:avLst/>
          </a:prstGeom>
        </p:spPr>
        <p:txBody>
          <a:bodyPr wrap="none">
            <a:spAutoFit/>
          </a:bodyPr>
          <a:p>
            <a:pPr algn="ctr" defTabSz="266700"/>
            <a:r>
              <a:rPr lang="zh-CN" altLang="en-US" sz="900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跑步</a:t>
            </a:r>
            <a:endParaRPr lang="zh-CN" altLang="en-US" sz="900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014538" y="9080341"/>
            <a:ext cx="411480" cy="229870"/>
          </a:xfrm>
          <a:prstGeom prst="rect">
            <a:avLst/>
          </a:prstGeom>
        </p:spPr>
        <p:txBody>
          <a:bodyPr wrap="none">
            <a:spAutoFit/>
          </a:bodyPr>
          <a:p>
            <a:pPr algn="ctr" defTabSz="266700"/>
            <a:r>
              <a:rPr lang="zh-CN" altLang="en-US" sz="900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骑行</a:t>
            </a:r>
            <a:endParaRPr lang="zh-CN" altLang="en-US" sz="900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2979738" y="9080341"/>
            <a:ext cx="411480" cy="229870"/>
          </a:xfrm>
          <a:prstGeom prst="rect">
            <a:avLst/>
          </a:prstGeom>
        </p:spPr>
        <p:txBody>
          <a:bodyPr wrap="none">
            <a:spAutoFit/>
          </a:bodyPr>
          <a:p>
            <a:pPr algn="ctr" defTabSz="266700"/>
            <a:r>
              <a:rPr lang="zh-CN" altLang="en-US" sz="900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吉他</a:t>
            </a:r>
            <a:endParaRPr lang="zh-CN" altLang="en-US" sz="900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4756785" y="2367915"/>
            <a:ext cx="1207770" cy="337185"/>
            <a:chOff x="878" y="3231"/>
            <a:chExt cx="1902" cy="531"/>
          </a:xfrm>
        </p:grpSpPr>
        <p:pic>
          <p:nvPicPr>
            <p:cNvPr id="67" name="image2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8" y="3318"/>
              <a:ext cx="219" cy="356"/>
            </a:xfrm>
            <a:prstGeom prst="rect">
              <a:avLst/>
            </a:prstGeom>
          </p:spPr>
        </p:pic>
        <p:sp>
          <p:nvSpPr>
            <p:cNvPr id="68" name="文本框 67"/>
            <p:cNvSpPr txBox="1"/>
            <p:nvPr/>
          </p:nvSpPr>
          <p:spPr>
            <a:xfrm>
              <a:off x="1212" y="3231"/>
              <a:ext cx="1568" cy="531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 defTabSz="266700"/>
              <a:r>
                <a:rPr lang="zh-CN" altLang="en-US" sz="1600" b="1">
                  <a:solidFill>
                    <a:srgbClr val="454545"/>
                  </a:solidFill>
                  <a:latin typeface="微软雅黑" panose="020B0503020204020204" charset="-122"/>
                  <a:ea typeface="微软雅黑" panose="020B0503020204020204" charset="-122"/>
                </a:rPr>
                <a:t>掌握技能</a:t>
              </a:r>
              <a:endParaRPr lang="zh-CN" altLang="en-US" sz="1600" b="1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9" name="文本框 68"/>
          <p:cNvSpPr txBox="1"/>
          <p:nvPr/>
        </p:nvSpPr>
        <p:spPr>
          <a:xfrm>
            <a:off x="4765675" y="2860358"/>
            <a:ext cx="1529080" cy="275590"/>
          </a:xfrm>
          <a:prstGeom prst="rect">
            <a:avLst/>
          </a:prstGeom>
        </p:spPr>
        <p:txBody>
          <a:bodyPr wrap="none">
            <a:spAutoFit/>
          </a:bodyPr>
          <a:p>
            <a:pPr marL="171450" indent="-171450" algn="l" defTabSz="26670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454545"/>
                </a:solidFill>
                <a:latin typeface="Calibri" panose="020F0502020204030204"/>
                <a:ea typeface="宋体" panose="02010600030101010101" pitchFamily="2" charset="-122"/>
              </a:rPr>
              <a:t>Swift</a:t>
            </a:r>
            <a:r>
              <a:rPr lang="zh-CN" altLang="en-US" sz="1200">
                <a:solidFill>
                  <a:srgbClr val="454545"/>
                </a:solidFill>
                <a:latin typeface="Calibri" panose="020F0502020204030204"/>
                <a:ea typeface="宋体" panose="02010600030101010101" pitchFamily="2" charset="-122"/>
              </a:rPr>
              <a:t>，</a:t>
            </a:r>
            <a:r>
              <a:rPr lang="en-US" altLang="zh-CN" sz="1200">
                <a:solidFill>
                  <a:srgbClr val="454545"/>
                </a:solidFill>
                <a:latin typeface="Calibri" panose="020F0502020204030204"/>
                <a:ea typeface="宋体" panose="02010600030101010101" pitchFamily="2" charset="-122"/>
              </a:rPr>
              <a:t>Objective-C</a:t>
            </a:r>
            <a:endParaRPr lang="en-US" altLang="zh-CN" sz="1200">
              <a:solidFill>
                <a:srgbClr val="454545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4765675" y="3197543"/>
            <a:ext cx="1560830" cy="275590"/>
          </a:xfrm>
          <a:prstGeom prst="rect">
            <a:avLst/>
          </a:prstGeom>
        </p:spPr>
        <p:txBody>
          <a:bodyPr wrap="none">
            <a:spAutoFit/>
          </a:bodyPr>
          <a:p>
            <a:pPr marL="171450" indent="-171450" algn="l" defTabSz="26670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454545"/>
                </a:solidFill>
                <a:latin typeface="Calibri" panose="020F0502020204030204"/>
                <a:ea typeface="宋体" panose="02010600030101010101" pitchFamily="2" charset="-122"/>
              </a:rPr>
              <a:t>JS/TS</a:t>
            </a:r>
            <a:r>
              <a:rPr lang="zh-CN" altLang="en-US" sz="1200">
                <a:solidFill>
                  <a:srgbClr val="454545"/>
                </a:solidFill>
                <a:latin typeface="Calibri" panose="020F0502020204030204"/>
                <a:ea typeface="宋体" panose="02010600030101010101" pitchFamily="2" charset="-122"/>
              </a:rPr>
              <a:t>，</a:t>
            </a:r>
            <a:r>
              <a:rPr lang="en-US" altLang="zh-CN" sz="1200">
                <a:solidFill>
                  <a:srgbClr val="454545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React</a:t>
            </a:r>
            <a:r>
              <a:rPr lang="zh-CN" altLang="en-US" sz="1200">
                <a:solidFill>
                  <a:srgbClr val="454545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200">
                <a:solidFill>
                  <a:srgbClr val="454545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Vue</a:t>
            </a:r>
            <a:endParaRPr lang="en-US" altLang="zh-CN" sz="1200">
              <a:solidFill>
                <a:srgbClr val="454545"/>
              </a:solidFill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4765675" y="4233545"/>
            <a:ext cx="1207770" cy="337185"/>
            <a:chOff x="878" y="3231"/>
            <a:chExt cx="1902" cy="531"/>
          </a:xfrm>
        </p:grpSpPr>
        <p:pic>
          <p:nvPicPr>
            <p:cNvPr id="72" name="image2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8" y="3318"/>
              <a:ext cx="219" cy="356"/>
            </a:xfrm>
            <a:prstGeom prst="rect">
              <a:avLst/>
            </a:prstGeom>
          </p:spPr>
        </p:pic>
        <p:sp>
          <p:nvSpPr>
            <p:cNvPr id="73" name="文本框 72"/>
            <p:cNvSpPr txBox="1"/>
            <p:nvPr/>
          </p:nvSpPr>
          <p:spPr>
            <a:xfrm>
              <a:off x="1212" y="3231"/>
              <a:ext cx="1568" cy="531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 defTabSz="266700"/>
              <a:r>
                <a:rPr lang="zh-CN" altLang="en-US" sz="1600" b="1">
                  <a:solidFill>
                    <a:srgbClr val="454545"/>
                  </a:solidFill>
                  <a:latin typeface="微软雅黑" panose="020B0503020204020204" charset="-122"/>
                  <a:ea typeface="微软雅黑" panose="020B0503020204020204" charset="-122"/>
                </a:rPr>
                <a:t>教育</a:t>
              </a:r>
              <a:r>
                <a:rPr lang="zh-CN" altLang="en-US" sz="1600" b="1">
                  <a:solidFill>
                    <a:srgbClr val="454545"/>
                  </a:solidFill>
                  <a:latin typeface="微软雅黑" panose="020B0503020204020204" charset="-122"/>
                  <a:ea typeface="微软雅黑" panose="020B0503020204020204" charset="-122"/>
                </a:rPr>
                <a:t>背景</a:t>
              </a:r>
              <a:endParaRPr lang="zh-CN" altLang="en-US" sz="1600" b="1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4903470" y="4783455"/>
            <a:ext cx="792480" cy="27559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zh-CN" altLang="en-US" sz="12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同济</a:t>
            </a:r>
            <a:r>
              <a:rPr lang="zh-CN" altLang="en-US" sz="12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大学</a:t>
            </a:r>
            <a:endParaRPr lang="zh-CN" altLang="en-US" sz="1200" b="1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903470" y="5082540"/>
            <a:ext cx="1501140" cy="24511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en-US" altLang="zh-CN" sz="10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2022.7 ~ 2024.7 </a:t>
            </a:r>
            <a:r>
              <a:rPr lang="zh-CN" altLang="en-US" sz="10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硕士</a:t>
            </a:r>
            <a:endParaRPr lang="zh-CN" altLang="en-US" sz="1000" b="1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4774565" y="4866005"/>
            <a:ext cx="95250" cy="747395"/>
            <a:chOff x="577" y="5721"/>
            <a:chExt cx="150" cy="1177"/>
          </a:xfrm>
        </p:grpSpPr>
        <p:cxnSp>
          <p:nvCxnSpPr>
            <p:cNvPr id="79" name="直线 40"/>
            <p:cNvCxnSpPr/>
            <p:nvPr/>
          </p:nvCxnSpPr>
          <p:spPr>
            <a:xfrm flipH="1">
              <a:off x="643" y="5957"/>
              <a:ext cx="10" cy="941"/>
            </a:xfrm>
            <a:prstGeom prst="line">
              <a:avLst/>
            </a:prstGeom>
            <a:ln w="15075">
              <a:solidFill>
                <a:srgbClr val="AA894A"/>
              </a:solidFill>
              <a:prstDash val="solid"/>
            </a:ln>
          </p:spPr>
        </p:cxnSp>
        <p:pic>
          <p:nvPicPr>
            <p:cNvPr id="80" name="image3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7" y="5721"/>
              <a:ext cx="150" cy="150"/>
            </a:xfrm>
            <a:prstGeom prst="rect">
              <a:avLst/>
            </a:prstGeom>
          </p:spPr>
        </p:pic>
      </p:grpSp>
      <p:sp>
        <p:nvSpPr>
          <p:cNvPr id="81" name="文本框 80"/>
          <p:cNvSpPr txBox="1"/>
          <p:nvPr/>
        </p:nvSpPr>
        <p:spPr>
          <a:xfrm>
            <a:off x="4903470" y="5420360"/>
            <a:ext cx="1633855" cy="24511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计算机学院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数据挖掘方向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765675" y="3534728"/>
            <a:ext cx="1729740" cy="275590"/>
          </a:xfrm>
          <a:prstGeom prst="rect">
            <a:avLst/>
          </a:prstGeom>
        </p:spPr>
        <p:txBody>
          <a:bodyPr wrap="none">
            <a:spAutoFit/>
          </a:bodyPr>
          <a:p>
            <a:pPr marL="171450" indent="-171450" algn="l" defTabSz="2667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454545"/>
                </a:solidFill>
                <a:latin typeface="Calibri" panose="020F0502020204030204"/>
                <a:ea typeface="宋体" panose="02010600030101010101" pitchFamily="2" charset="-122"/>
              </a:rPr>
              <a:t>Python</a:t>
            </a:r>
            <a:r>
              <a:rPr lang="zh-CN" altLang="en-US" sz="1200">
                <a:solidFill>
                  <a:srgbClr val="454545"/>
                </a:solidFill>
                <a:latin typeface="Calibri" panose="020F0502020204030204"/>
                <a:ea typeface="宋体" panose="02010600030101010101" pitchFamily="2" charset="-122"/>
              </a:rPr>
              <a:t>，</a:t>
            </a:r>
            <a:r>
              <a:rPr lang="en-US" altLang="zh-CN" sz="1200">
                <a:solidFill>
                  <a:srgbClr val="454545"/>
                </a:solidFill>
                <a:latin typeface="Calibri" panose="020F0502020204030204"/>
                <a:ea typeface="宋体" panose="02010600030101010101" pitchFamily="2" charset="-122"/>
              </a:rPr>
              <a:t>R</a:t>
            </a:r>
            <a:r>
              <a:rPr lang="zh-CN" altLang="en-US" sz="1200">
                <a:solidFill>
                  <a:srgbClr val="454545"/>
                </a:solidFill>
                <a:latin typeface="Calibri" panose="020F0502020204030204"/>
                <a:ea typeface="宋体" panose="02010600030101010101" pitchFamily="2" charset="-122"/>
              </a:rPr>
              <a:t>，</a:t>
            </a:r>
            <a:r>
              <a:rPr lang="en-US" altLang="zh-CN" sz="1200">
                <a:solidFill>
                  <a:srgbClr val="454545"/>
                </a:solidFill>
                <a:latin typeface="Calibri" panose="020F0502020204030204"/>
                <a:ea typeface="宋体" panose="02010600030101010101" pitchFamily="2" charset="-122"/>
              </a:rPr>
              <a:t>Power BI</a:t>
            </a:r>
            <a:endParaRPr lang="en-US" altLang="zh-CN" sz="1200">
              <a:solidFill>
                <a:srgbClr val="454545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903470" y="5799455"/>
            <a:ext cx="792480" cy="27559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zh-CN" altLang="en-US" sz="12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zh-CN" altLang="en-US" sz="12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大学</a:t>
            </a:r>
            <a:endParaRPr lang="zh-CN" altLang="en-US" sz="1200" b="1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4903470" y="6098540"/>
            <a:ext cx="1815465" cy="24511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en-US" altLang="zh-CN" sz="10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2018.9 ~ 2022.7 </a:t>
            </a:r>
            <a:r>
              <a:rPr lang="zh-CN" altLang="en-US" sz="10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本科</a:t>
            </a:r>
            <a:r>
              <a:rPr lang="en-US" altLang="zh-CN" sz="10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00" b="1">
                <a:solidFill>
                  <a:srgbClr val="AA894A"/>
                </a:solidFill>
                <a:latin typeface="微软雅黑" panose="020B0503020204020204" charset="-122"/>
                <a:ea typeface="微软雅黑" panose="020B0503020204020204" charset="-122"/>
              </a:rPr>
              <a:t>学士</a:t>
            </a:r>
            <a:endParaRPr lang="zh-CN" altLang="en-US" sz="1000" b="1">
              <a:solidFill>
                <a:srgbClr val="AA89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4774565" y="5882005"/>
            <a:ext cx="95250" cy="747395"/>
            <a:chOff x="577" y="5721"/>
            <a:chExt cx="150" cy="1177"/>
          </a:xfrm>
        </p:grpSpPr>
        <p:cxnSp>
          <p:nvCxnSpPr>
            <p:cNvPr id="87" name="直线 40"/>
            <p:cNvCxnSpPr/>
            <p:nvPr/>
          </p:nvCxnSpPr>
          <p:spPr>
            <a:xfrm flipH="1">
              <a:off x="643" y="5957"/>
              <a:ext cx="10" cy="941"/>
            </a:xfrm>
            <a:prstGeom prst="line">
              <a:avLst/>
            </a:prstGeom>
            <a:ln w="15075">
              <a:solidFill>
                <a:srgbClr val="AA894A"/>
              </a:solidFill>
              <a:prstDash val="solid"/>
            </a:ln>
          </p:spPr>
        </p:cxnSp>
        <p:pic>
          <p:nvPicPr>
            <p:cNvPr id="88" name="image3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7" y="5721"/>
              <a:ext cx="150" cy="150"/>
            </a:xfrm>
            <a:prstGeom prst="rect">
              <a:avLst/>
            </a:prstGeom>
          </p:spPr>
        </p:pic>
      </p:grpSp>
      <p:sp>
        <p:nvSpPr>
          <p:cNvPr id="89" name="文本框 88"/>
          <p:cNvSpPr txBox="1"/>
          <p:nvPr/>
        </p:nvSpPr>
        <p:spPr>
          <a:xfrm>
            <a:off x="4903470" y="6436360"/>
            <a:ext cx="817880" cy="245110"/>
          </a:xfrm>
          <a:prstGeom prst="rect">
            <a:avLst/>
          </a:prstGeom>
        </p:spPr>
        <p:txBody>
          <a:bodyPr wrap="none">
            <a:spAutoFit/>
          </a:bodyPr>
          <a:p>
            <a:pPr algn="l" defTabSz="266700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计算机学院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4765675" y="7007860"/>
            <a:ext cx="1207770" cy="337185"/>
            <a:chOff x="878" y="3231"/>
            <a:chExt cx="1902" cy="531"/>
          </a:xfrm>
        </p:grpSpPr>
        <p:pic>
          <p:nvPicPr>
            <p:cNvPr id="95" name="image2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8" y="3318"/>
              <a:ext cx="219" cy="356"/>
            </a:xfrm>
            <a:prstGeom prst="rect">
              <a:avLst/>
            </a:prstGeom>
          </p:spPr>
        </p:pic>
        <p:sp>
          <p:nvSpPr>
            <p:cNvPr id="96" name="文本框 95"/>
            <p:cNvSpPr txBox="1"/>
            <p:nvPr/>
          </p:nvSpPr>
          <p:spPr>
            <a:xfrm>
              <a:off x="1212" y="3231"/>
              <a:ext cx="1568" cy="531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 defTabSz="266700"/>
              <a:r>
                <a:rPr lang="zh-CN" altLang="en-US" sz="1600" b="1">
                  <a:solidFill>
                    <a:srgbClr val="454545"/>
                  </a:solidFill>
                  <a:latin typeface="微软雅黑" panose="020B0503020204020204" charset="-122"/>
                  <a:ea typeface="微软雅黑" panose="020B0503020204020204" charset="-122"/>
                </a:rPr>
                <a:t>核心优势</a:t>
              </a:r>
              <a:endParaRPr lang="zh-CN" altLang="en-US" sz="1600" b="1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97" name="文本框 96"/>
          <p:cNvSpPr txBox="1"/>
          <p:nvPr/>
        </p:nvSpPr>
        <p:spPr>
          <a:xfrm>
            <a:off x="4706620" y="7497445"/>
            <a:ext cx="1924685" cy="184531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 defTabSz="266700" fontAlgn="auto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因工作关系，熟练掌握</a:t>
            </a:r>
            <a:r>
              <a:rPr lang="en-US" altLang="zh-CN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iOS</a:t>
            </a: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开发技能，有成熟开发、实施、运维</a:t>
            </a: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经验。</a:t>
            </a:r>
            <a:endParaRPr lang="zh-CN" altLang="en-US" sz="1000">
              <a:solidFill>
                <a:srgbClr val="4545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71450" indent="-171450" defTabSz="266700" fontAlgn="auto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大学期间，积累了关于数据挖掘相关的专业知识，能够胜任企业数据中后台的相关技术</a:t>
            </a: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工作。</a:t>
            </a:r>
            <a:endParaRPr lang="zh-CN" altLang="en-US" sz="1000">
              <a:solidFill>
                <a:srgbClr val="4545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71450" indent="-171450" defTabSz="266700" fontAlgn="auto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为人踏实，性格</a:t>
            </a:r>
            <a:r>
              <a:rPr lang="zh-CN" altLang="en-US" sz="1000">
                <a:solidFill>
                  <a:srgbClr val="4545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开朗。</a:t>
            </a:r>
            <a:endParaRPr lang="zh-CN" altLang="en-US" sz="1000">
              <a:solidFill>
                <a:srgbClr val="4545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WPS 演示</Application>
  <PresentationFormat>宽屏</PresentationFormat>
  <Paragraphs>83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方正幼线简体</vt:lpstr>
      <vt:lpstr>Segoe Print</vt:lpstr>
      <vt:lpstr>微软雅黑 Light</vt:lpstr>
      <vt:lpstr>华文行楷</vt:lpstr>
      <vt:lpstr>幼圆</vt:lpstr>
      <vt:lpstr>Times New Roman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IanY</cp:lastModifiedBy>
  <cp:revision>157</cp:revision>
  <dcterms:created xsi:type="dcterms:W3CDTF">2019-06-19T02:08:00Z</dcterms:created>
  <dcterms:modified xsi:type="dcterms:W3CDTF">2026-07-15T04:18:15Z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C4E14C4E98884F73803C7D93DB374E39_11</vt:lpwstr>
  </property>
</Properties>
</file>